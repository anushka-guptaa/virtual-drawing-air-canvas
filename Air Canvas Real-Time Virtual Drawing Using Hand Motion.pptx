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Norwester" charset="1" panose="00000506000000000000"/>
      <p:regular r:id="rId16"/>
    </p:embeddedFont>
    <p:embeddedFont>
      <p:font typeface="Poppins" charset="1" panose="00000500000000000000"/>
      <p:regular r:id="rId17"/>
    </p:embeddedFont>
    <p:embeddedFont>
      <p:font typeface="Helvetica World" charset="1" panose="020B0500040000020004"/>
      <p:regular r:id="rId18"/>
    </p:embeddedFont>
    <p:embeddedFont>
      <p:font typeface="Poppins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358858" y="490732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0"/>
                </a:moveTo>
                <a:lnTo>
                  <a:pt x="3247476" y="0"/>
                </a:lnTo>
                <a:lnTo>
                  <a:pt x="3247476" y="472360"/>
                </a:lnTo>
                <a:lnTo>
                  <a:pt x="0" y="472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5400000">
            <a:off x="15399382" y="490732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6" y="472360"/>
                </a:lnTo>
                <a:lnTo>
                  <a:pt x="3247476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65433" y="9749819"/>
            <a:ext cx="263267" cy="204391"/>
          </a:xfrm>
          <a:custGeom>
            <a:avLst/>
            <a:gdLst/>
            <a:ahLst/>
            <a:cxnLst/>
            <a:rect r="r" b="b" t="t" l="l"/>
            <a:pathLst>
              <a:path h="204391" w="263267">
                <a:moveTo>
                  <a:pt x="0" y="0"/>
                </a:moveTo>
                <a:lnTo>
                  <a:pt x="263267" y="0"/>
                </a:lnTo>
                <a:lnTo>
                  <a:pt x="263267" y="204391"/>
                </a:lnTo>
                <a:lnTo>
                  <a:pt x="0" y="204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7363846" y="9749819"/>
            <a:ext cx="263267" cy="204391"/>
          </a:xfrm>
          <a:custGeom>
            <a:avLst/>
            <a:gdLst/>
            <a:ahLst/>
            <a:cxnLst/>
            <a:rect r="r" b="b" t="t" l="l"/>
            <a:pathLst>
              <a:path h="204391" w="263267">
                <a:moveTo>
                  <a:pt x="263268" y="0"/>
                </a:moveTo>
                <a:lnTo>
                  <a:pt x="0" y="0"/>
                </a:lnTo>
                <a:lnTo>
                  <a:pt x="0" y="204391"/>
                </a:lnTo>
                <a:lnTo>
                  <a:pt x="263268" y="204391"/>
                </a:lnTo>
                <a:lnTo>
                  <a:pt x="26326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1337383" cy="1157444"/>
          </a:xfrm>
          <a:custGeom>
            <a:avLst/>
            <a:gdLst/>
            <a:ahLst/>
            <a:cxnLst/>
            <a:rect r="r" b="b" t="t" l="l"/>
            <a:pathLst>
              <a:path h="1157444" w="1337383">
                <a:moveTo>
                  <a:pt x="0" y="0"/>
                </a:moveTo>
                <a:lnTo>
                  <a:pt x="1337383" y="0"/>
                </a:lnTo>
                <a:lnTo>
                  <a:pt x="1337383" y="1157444"/>
                </a:lnTo>
                <a:lnTo>
                  <a:pt x="0" y="11574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01060" y="2365895"/>
            <a:ext cx="15862786" cy="2777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5"/>
              </a:lnSpc>
            </a:pPr>
            <a:r>
              <a:rPr lang="en-US" sz="8367" spc="-410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AIR CANVAS: REAL-TIME VIRTUAL DRAWING USING HAND MOTION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7982" y="8454896"/>
            <a:ext cx="1952394" cy="41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8"/>
              </a:lnSpc>
            </a:pPr>
            <a:r>
              <a:rPr lang="en-US" sz="2483" spc="-121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PRESENTED BY: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5921917" y="1048018"/>
            <a:ext cx="1337383" cy="1157444"/>
          </a:xfrm>
          <a:custGeom>
            <a:avLst/>
            <a:gdLst/>
            <a:ahLst/>
            <a:cxnLst/>
            <a:rect r="r" b="b" t="t" l="l"/>
            <a:pathLst>
              <a:path h="1157444" w="1337383">
                <a:moveTo>
                  <a:pt x="1337383" y="0"/>
                </a:moveTo>
                <a:lnTo>
                  <a:pt x="0" y="0"/>
                </a:lnTo>
                <a:lnTo>
                  <a:pt x="0" y="1157444"/>
                </a:lnTo>
                <a:lnTo>
                  <a:pt x="1337383" y="1157444"/>
                </a:lnTo>
                <a:lnTo>
                  <a:pt x="133738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8811827"/>
            <a:ext cx="4043353" cy="835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90"/>
              </a:lnSpc>
            </a:pPr>
            <a:r>
              <a:rPr lang="en-US" sz="5144" spc="-252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ANUSHKA GUPTA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859869" y="8989000"/>
            <a:ext cx="4124096" cy="8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25"/>
              </a:lnSpc>
            </a:pPr>
            <a:r>
              <a:rPr lang="en-US" sz="5246" spc="-257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102303358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011825" y="102870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783503" y="102870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673202" y="1630531"/>
            <a:ext cx="8941595" cy="1453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14"/>
              </a:lnSpc>
            </a:pPr>
            <a:r>
              <a:rPr lang="en-US" sz="8798" spc="-431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9427" y="3667816"/>
            <a:ext cx="18012365" cy="5851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3053" indent="-426526" lvl="1">
              <a:lnSpc>
                <a:spcPts val="5136"/>
              </a:lnSpc>
              <a:buFont typeface="Arial"/>
              <a:buChar char="•"/>
            </a:pPr>
            <a:r>
              <a:rPr lang="en-US" sz="3951" spc="-11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With the rise of contactless interaction, there is a need for intuitive drawing methods that don't rely on physical tools.</a:t>
            </a:r>
          </a:p>
          <a:p>
            <a:pPr algn="l">
              <a:lnSpc>
                <a:spcPts val="5136"/>
              </a:lnSpc>
            </a:pPr>
          </a:p>
          <a:p>
            <a:pPr algn="l" marL="853053" indent="-426526" lvl="1">
              <a:lnSpc>
                <a:spcPts val="5136"/>
              </a:lnSpc>
              <a:buFont typeface="Arial"/>
              <a:buChar char="•"/>
            </a:pPr>
            <a:r>
              <a:rPr lang="en-US" sz="3951" spc="-11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project solves that problem by allowing users to draw in real-time using only a webcam and a colored object.</a:t>
            </a:r>
          </a:p>
          <a:p>
            <a:pPr algn="l">
              <a:lnSpc>
                <a:spcPts val="5136"/>
              </a:lnSpc>
            </a:pPr>
          </a:p>
          <a:p>
            <a:pPr algn="l" marL="853053" indent="-426526" lvl="1">
              <a:lnSpc>
                <a:spcPts val="5136"/>
              </a:lnSpc>
              <a:buFont typeface="Arial"/>
              <a:buChar char="•"/>
            </a:pPr>
            <a:r>
              <a:rPr lang="en-US" sz="3951" spc="-11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 demonstrates the power of computer vision in creating interactive virtual tools.</a:t>
            </a:r>
          </a:p>
          <a:p>
            <a:pPr algn="l">
              <a:lnSpc>
                <a:spcPts val="5136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8612922" y="925830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85733" y="2036993"/>
            <a:ext cx="7612837" cy="6026830"/>
          </a:xfrm>
          <a:custGeom>
            <a:avLst/>
            <a:gdLst/>
            <a:ahLst/>
            <a:cxnLst/>
            <a:rect r="r" b="b" t="t" l="l"/>
            <a:pathLst>
              <a:path h="6026830" w="7612837">
                <a:moveTo>
                  <a:pt x="0" y="0"/>
                </a:moveTo>
                <a:lnTo>
                  <a:pt x="7612838" y="0"/>
                </a:lnTo>
                <a:lnTo>
                  <a:pt x="7612838" y="6026829"/>
                </a:lnTo>
                <a:lnTo>
                  <a:pt x="0" y="60268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-5400000">
            <a:off x="-1737947" y="3974643"/>
            <a:ext cx="6199064" cy="1979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0"/>
              </a:lnSpc>
            </a:pPr>
            <a:r>
              <a:rPr lang="en-US" sz="12000" spc="-588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OBJECTIVE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98571" y="722551"/>
            <a:ext cx="8237393" cy="1142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3498" indent="-381749" lvl="1">
              <a:lnSpc>
                <a:spcPts val="4597"/>
              </a:lnSpc>
              <a:buFont typeface="Arial"/>
              <a:buChar char="•"/>
            </a:pPr>
            <a:r>
              <a:rPr lang="en-US" sz="3536" spc="-10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design and implement a real-time virtual canvas using computer vision.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98571" y="2722883"/>
            <a:ext cx="8237393" cy="1695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0703" indent="-375352" lvl="1">
              <a:lnSpc>
                <a:spcPts val="4520"/>
              </a:lnSpc>
              <a:buFont typeface="Arial"/>
              <a:buChar char="•"/>
            </a:pPr>
            <a:r>
              <a:rPr lang="en-US" sz="3477" spc="-10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 OpenCV and Python to detect a colored object (like a pen cap) in webcam feed.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98571" y="7207677"/>
            <a:ext cx="7994631" cy="1755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0929" indent="-385465" lvl="1">
              <a:lnSpc>
                <a:spcPts val="4642"/>
              </a:lnSpc>
              <a:buFont typeface="Arial"/>
              <a:buChar char="•"/>
            </a:pPr>
            <a:r>
              <a:rPr lang="en-US" sz="3570" spc="-10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Allow users to draw on screen by simply moving that object in the air.</a:t>
            </a:r>
          </a:p>
          <a:p>
            <a:pPr algn="l">
              <a:lnSpc>
                <a:spcPts val="4642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498571" y="5243315"/>
            <a:ext cx="7994631" cy="1136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3242" indent="-376621" lvl="1">
              <a:lnSpc>
                <a:spcPts val="4535"/>
              </a:lnSpc>
              <a:buFont typeface="Arial"/>
              <a:buChar char="•"/>
            </a:pPr>
            <a:r>
              <a:rPr lang="en-US" sz="3488" spc="-10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Provide interactive controls like color selection and canvas clearing.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05534" y="285665"/>
            <a:ext cx="11332345" cy="138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67"/>
              </a:lnSpc>
            </a:pPr>
            <a:r>
              <a:rPr lang="en-US" sz="8384" spc="-410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TOOLS AND LIBRARIES UESD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9977" y="2095444"/>
            <a:ext cx="3233452" cy="848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13"/>
              </a:lnSpc>
            </a:pPr>
            <a:r>
              <a:rPr lang="en-US" sz="5161" spc="-252">
                <a:solidFill>
                  <a:srgbClr val="FFDE59"/>
                </a:solidFill>
                <a:latin typeface="Norwester"/>
                <a:ea typeface="Norwester"/>
                <a:cs typeface="Norwester"/>
                <a:sym typeface="Norwester"/>
              </a:rPr>
              <a:t>PYTHON 3.X: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9977" y="3972040"/>
            <a:ext cx="3233452" cy="848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13"/>
              </a:lnSpc>
            </a:pPr>
            <a:r>
              <a:rPr lang="en-US" sz="5161" spc="-252">
                <a:solidFill>
                  <a:srgbClr val="FFDE59"/>
                </a:solidFill>
                <a:latin typeface="Norwester"/>
                <a:ea typeface="Norwester"/>
                <a:cs typeface="Norwester"/>
                <a:sym typeface="Norwester"/>
              </a:rPr>
              <a:t>OPENCV: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9977" y="6384861"/>
            <a:ext cx="2739424" cy="84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11"/>
              </a:lnSpc>
            </a:pPr>
            <a:r>
              <a:rPr lang="en-US" sz="5159" spc="-252">
                <a:solidFill>
                  <a:srgbClr val="FFDE59"/>
                </a:solidFill>
                <a:latin typeface="Norwester"/>
                <a:ea typeface="Norwester"/>
                <a:cs typeface="Norwester"/>
                <a:sym typeface="Norwester"/>
              </a:rPr>
              <a:t>NUMPY: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9977" y="8430260"/>
            <a:ext cx="2739424" cy="84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11"/>
              </a:lnSpc>
            </a:pPr>
            <a:r>
              <a:rPr lang="en-US" sz="5159" spc="-252">
                <a:solidFill>
                  <a:srgbClr val="FFDE59"/>
                </a:solidFill>
                <a:latin typeface="Norwester"/>
                <a:ea typeface="Norwester"/>
                <a:cs typeface="Norwester"/>
                <a:sym typeface="Norwester"/>
              </a:rPr>
              <a:t>WEBCAM: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97067" y="2236789"/>
            <a:ext cx="12683312" cy="1366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5"/>
              </a:lnSpc>
            </a:pPr>
            <a:r>
              <a:rPr lang="en-US" sz="4204" spc="-12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Programming language used to build the application.</a:t>
            </a:r>
          </a:p>
          <a:p>
            <a:pPr algn="l">
              <a:lnSpc>
                <a:spcPts val="5465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198229" y="2405126"/>
            <a:ext cx="13558596" cy="723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42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147398" y="3958924"/>
            <a:ext cx="14111902" cy="1365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2"/>
              </a:lnSpc>
            </a:pPr>
            <a:r>
              <a:rPr lang="en-US" sz="4201" spc="-12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Open-source computer vision library for image processing and webcam access.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47398" y="6476987"/>
            <a:ext cx="13558596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4200" spc="-12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Library for handling arrays and matrix operations.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59424" y="8523035"/>
            <a:ext cx="13558596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4200" spc="-12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Input device for capturing real-time video frames.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5040525" y="981464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69168"/>
            <a:ext cx="16741249" cy="159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04"/>
              </a:lnSpc>
            </a:pPr>
            <a:r>
              <a:rPr lang="en-US" sz="9700" spc="-475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HOW IT WORKS (STEP-BY-STEP FLOW)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938" y="1765585"/>
            <a:ext cx="18084062" cy="8879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5"/>
              </a:lnSpc>
            </a:pPr>
            <a:r>
              <a:rPr lang="en-US" b="true" sz="3580" spc="-107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1. Video Capture:</a:t>
            </a:r>
          </a:p>
          <a:p>
            <a:pPr algn="l">
              <a:lnSpc>
                <a:spcPts val="4655"/>
              </a:lnSpc>
            </a:pPr>
            <a:r>
              <a:rPr lang="en-US" sz="3580" spc="-10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Webcam captures real-time video frames.</a:t>
            </a:r>
          </a:p>
          <a:p>
            <a:pPr algn="l">
              <a:lnSpc>
                <a:spcPts val="4655"/>
              </a:lnSpc>
            </a:pPr>
            <a:r>
              <a:rPr lang="en-US" b="true" sz="3580" spc="-107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2. Colour Conversion:</a:t>
            </a:r>
          </a:p>
          <a:p>
            <a:pPr algn="l">
              <a:lnSpc>
                <a:spcPts val="4655"/>
              </a:lnSpc>
            </a:pPr>
            <a:r>
              <a:rPr lang="en-US" sz="3580" spc="-10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Each frame is converted from BGR to HSV colour space.</a:t>
            </a:r>
          </a:p>
          <a:p>
            <a:pPr algn="l">
              <a:lnSpc>
                <a:spcPts val="4655"/>
              </a:lnSpc>
            </a:pPr>
            <a:r>
              <a:rPr lang="en-US" b="true" sz="3580" spc="-107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3.SV Range Detection:</a:t>
            </a:r>
          </a:p>
          <a:p>
            <a:pPr algn="l">
              <a:lnSpc>
                <a:spcPts val="4655"/>
              </a:lnSpc>
            </a:pPr>
            <a:r>
              <a:rPr lang="en-US" sz="3580" spc="-10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The user adjusts the trackbars to define the colour range of their marker (e.g., a pink pen cap).</a:t>
            </a:r>
          </a:p>
          <a:p>
            <a:pPr algn="l">
              <a:lnSpc>
                <a:spcPts val="4655"/>
              </a:lnSpc>
            </a:pPr>
            <a:r>
              <a:rPr lang="en-US" b="true" sz="3580" spc="-107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4.Contour Detection:</a:t>
            </a:r>
          </a:p>
          <a:p>
            <a:pPr algn="l">
              <a:lnSpc>
                <a:spcPts val="4655"/>
              </a:lnSpc>
            </a:pPr>
            <a:r>
              <a:rPr lang="en-US" sz="3580" spc="-10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The app detects the largest contour (marker) and identifies its centre.</a:t>
            </a:r>
          </a:p>
          <a:p>
            <a:pPr algn="l">
              <a:lnSpc>
                <a:spcPts val="4655"/>
              </a:lnSpc>
            </a:pPr>
            <a:r>
              <a:rPr lang="en-US" b="true" sz="3580" spc="-107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5.Action Trigger:</a:t>
            </a:r>
          </a:p>
          <a:p>
            <a:pPr algn="l">
              <a:lnSpc>
                <a:spcPts val="4655"/>
              </a:lnSpc>
            </a:pPr>
            <a:r>
              <a:rPr lang="en-US" sz="3580" spc="-10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If the marker is over the colour buttons (top bar), it switches colours or clears the canvas.</a:t>
            </a:r>
          </a:p>
          <a:p>
            <a:pPr algn="l">
              <a:lnSpc>
                <a:spcPts val="4655"/>
              </a:lnSpc>
            </a:pPr>
            <a:r>
              <a:rPr lang="en-US" b="true" sz="3580" spc="-107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6.Drawing:</a:t>
            </a:r>
          </a:p>
          <a:p>
            <a:pPr algn="l">
              <a:lnSpc>
                <a:spcPts val="4655"/>
              </a:lnSpc>
            </a:pPr>
            <a:r>
              <a:rPr lang="en-US" sz="3580" spc="-10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As the marker moves, the system draws lines connecting racked points.</a:t>
            </a:r>
          </a:p>
          <a:p>
            <a:pPr algn="l">
              <a:lnSpc>
                <a:spcPts val="465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6296820" y="1387558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0"/>
                </a:moveTo>
                <a:lnTo>
                  <a:pt x="3247475" y="0"/>
                </a:lnTo>
                <a:lnTo>
                  <a:pt x="3247475" y="472360"/>
                </a:lnTo>
                <a:lnTo>
                  <a:pt x="0" y="472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7525" y="3361160"/>
            <a:ext cx="9903138" cy="550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5"/>
              </a:lnSpc>
            </a:pPr>
            <a:r>
              <a:rPr lang="en-US" sz="4204" spc="-1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1. </a:t>
            </a:r>
            <a:r>
              <a:rPr lang="en-US" sz="4204" spc="-1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HSV Trackbars allow live tuning of detection range:</a:t>
            </a:r>
          </a:p>
          <a:p>
            <a:pPr algn="l" marL="907680" indent="-453840" lvl="1">
              <a:lnSpc>
                <a:spcPts val="5465"/>
              </a:lnSpc>
              <a:buFont typeface="Arial"/>
              <a:buChar char="•"/>
            </a:pPr>
            <a:r>
              <a:rPr lang="en-US" sz="4204" spc="-1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Hue: colour type</a:t>
            </a:r>
          </a:p>
          <a:p>
            <a:pPr algn="l" marL="907680" indent="-453840" lvl="1">
              <a:lnSpc>
                <a:spcPts val="5465"/>
              </a:lnSpc>
              <a:buFont typeface="Arial"/>
              <a:buChar char="•"/>
            </a:pPr>
            <a:r>
              <a:rPr lang="en-US" sz="4204" spc="-1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Saturation: intensity</a:t>
            </a:r>
          </a:p>
          <a:p>
            <a:pPr algn="l" marL="907680" indent="-453840" lvl="1">
              <a:lnSpc>
                <a:spcPts val="5465"/>
              </a:lnSpc>
              <a:buFont typeface="Arial"/>
              <a:buChar char="•"/>
            </a:pPr>
            <a:r>
              <a:rPr lang="en-US" sz="4204" spc="-1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Value: brightness</a:t>
            </a:r>
          </a:p>
          <a:p>
            <a:pPr algn="l">
              <a:lnSpc>
                <a:spcPts val="5465"/>
              </a:lnSpc>
              <a:spcBef>
                <a:spcPct val="0"/>
              </a:spcBef>
            </a:pPr>
            <a:r>
              <a:rPr lang="en-US" sz="4204" spc="-1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</a:t>
            </a:r>
            <a:r>
              <a:rPr lang="en-US" sz="4204" spc="-1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Binary Mask Window:</a:t>
            </a:r>
          </a:p>
          <a:p>
            <a:pPr algn="l" marL="907680" indent="-453840" lvl="1">
              <a:lnSpc>
                <a:spcPts val="5465"/>
              </a:lnSpc>
              <a:buFont typeface="Arial"/>
              <a:buChar char="•"/>
            </a:pPr>
            <a:r>
              <a:rPr lang="en-US" sz="4204" spc="-1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Shows what is currently being detected (white = detected object)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050466" y="3437360"/>
            <a:ext cx="6633911" cy="5373553"/>
          </a:xfrm>
          <a:custGeom>
            <a:avLst/>
            <a:gdLst/>
            <a:ahLst/>
            <a:cxnLst/>
            <a:rect r="r" b="b" t="t" l="l"/>
            <a:pathLst>
              <a:path h="5373553" w="6633911">
                <a:moveTo>
                  <a:pt x="0" y="0"/>
                </a:moveTo>
                <a:lnTo>
                  <a:pt x="6633911" y="0"/>
                </a:lnTo>
                <a:lnTo>
                  <a:pt x="6633911" y="5373554"/>
                </a:lnTo>
                <a:lnTo>
                  <a:pt x="0" y="53735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38410" y="876300"/>
            <a:ext cx="15982147" cy="1979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0"/>
              </a:lnSpc>
            </a:pPr>
            <a:r>
              <a:rPr lang="en-US" sz="12000" spc="-588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 HSV DETECTION IN ACTION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263" y="9853065"/>
            <a:ext cx="18025474" cy="433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0"/>
              </a:lnSpc>
            </a:pPr>
            <a:r>
              <a:rPr lang="en-US" sz="2607" spc="-7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“P</a:t>
            </a:r>
            <a:r>
              <a:rPr lang="en-US" sz="2607" spc="-7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roper HSV tuning is critical to ensure the system detects only the intended object and not the background or hair.”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5040525" y="9648825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86533" y="199275"/>
            <a:ext cx="7589669" cy="4519160"/>
          </a:xfrm>
          <a:custGeom>
            <a:avLst/>
            <a:gdLst/>
            <a:ahLst/>
            <a:cxnLst/>
            <a:rect r="r" b="b" t="t" l="l"/>
            <a:pathLst>
              <a:path h="4519160" w="7589669">
                <a:moveTo>
                  <a:pt x="0" y="0"/>
                </a:moveTo>
                <a:lnTo>
                  <a:pt x="7589669" y="0"/>
                </a:lnTo>
                <a:lnTo>
                  <a:pt x="7589669" y="4519159"/>
                </a:lnTo>
                <a:lnTo>
                  <a:pt x="0" y="45191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86533" y="5294071"/>
            <a:ext cx="7272767" cy="4590934"/>
          </a:xfrm>
          <a:custGeom>
            <a:avLst/>
            <a:gdLst/>
            <a:ahLst/>
            <a:cxnLst/>
            <a:rect r="r" b="b" t="t" l="l"/>
            <a:pathLst>
              <a:path h="4590934" w="7272767">
                <a:moveTo>
                  <a:pt x="0" y="0"/>
                </a:moveTo>
                <a:lnTo>
                  <a:pt x="7272767" y="0"/>
                </a:lnTo>
                <a:lnTo>
                  <a:pt x="7272767" y="4590934"/>
                </a:lnTo>
                <a:lnTo>
                  <a:pt x="0" y="45909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13512" y="5438721"/>
            <a:ext cx="7171426" cy="4446284"/>
          </a:xfrm>
          <a:custGeom>
            <a:avLst/>
            <a:gdLst/>
            <a:ahLst/>
            <a:cxnLst/>
            <a:rect r="r" b="b" t="t" l="l"/>
            <a:pathLst>
              <a:path h="4446284" w="7171426">
                <a:moveTo>
                  <a:pt x="0" y="0"/>
                </a:moveTo>
                <a:lnTo>
                  <a:pt x="7171426" y="0"/>
                </a:lnTo>
                <a:lnTo>
                  <a:pt x="7171426" y="4446284"/>
                </a:lnTo>
                <a:lnTo>
                  <a:pt x="0" y="44462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26023" y="729364"/>
            <a:ext cx="6592155" cy="3989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0"/>
              </a:lnSpc>
            </a:pPr>
            <a:r>
              <a:rPr lang="en-US" sz="12000" spc="-588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DRAWING OUTPUT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5040525" y="981464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201242" y="904875"/>
            <a:ext cx="17566011" cy="337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5"/>
              </a:lnSpc>
            </a:pPr>
            <a:r>
              <a:rPr lang="en-US" sz="10178" spc="-498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APPLICATIONS</a:t>
            </a:r>
          </a:p>
          <a:p>
            <a:pPr algn="l">
              <a:lnSpc>
                <a:spcPts val="13435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03938" y="2963879"/>
            <a:ext cx="21340025" cy="628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2295" indent="-456148" lvl="1">
              <a:lnSpc>
                <a:spcPts val="5493"/>
              </a:lnSpc>
              <a:buAutoNum type="arabicPeriod" startAt="1"/>
            </a:pPr>
            <a:r>
              <a:rPr lang="en-US" b="true" sz="4225" spc="-12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Touchless Interaction Systems</a:t>
            </a:r>
          </a:p>
          <a:p>
            <a:pPr algn="l" marL="1824590" indent="-608197" lvl="2">
              <a:lnSpc>
                <a:spcPts val="5493"/>
              </a:lnSpc>
              <a:buFont typeface="Arial"/>
              <a:buChar char="⚬"/>
            </a:pPr>
            <a:r>
              <a:rPr lang="en-US" b="true" sz="4225" spc="-12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Useful in hygiene-sensitive environments (e.g., hospitals)</a:t>
            </a:r>
          </a:p>
          <a:p>
            <a:pPr algn="l" marL="912295" indent="-456148" lvl="1">
              <a:lnSpc>
                <a:spcPts val="5493"/>
              </a:lnSpc>
              <a:buAutoNum type="arabicPeriod" startAt="1"/>
            </a:pPr>
            <a:r>
              <a:rPr lang="en-US" b="true" sz="4225" spc="-12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Educational Tools</a:t>
            </a:r>
          </a:p>
          <a:p>
            <a:pPr algn="l" marL="1824590" indent="-608197" lvl="2">
              <a:lnSpc>
                <a:spcPts val="5493"/>
              </a:lnSpc>
              <a:buFont typeface="Arial"/>
              <a:buChar char="⚬"/>
            </a:pPr>
            <a:r>
              <a:rPr lang="en-US" b="true" sz="4225" spc="-12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Fun and engaging tech for kids to draw and learn</a:t>
            </a:r>
          </a:p>
          <a:p>
            <a:pPr algn="l" marL="912295" indent="-456148" lvl="1">
              <a:lnSpc>
                <a:spcPts val="5493"/>
              </a:lnSpc>
              <a:buAutoNum type="arabicPeriod" startAt="1"/>
            </a:pPr>
            <a:r>
              <a:rPr lang="en-US" b="true" sz="4225" spc="-12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Gesture-Controlled Interfaces</a:t>
            </a:r>
          </a:p>
          <a:p>
            <a:pPr algn="l" marL="1824590" indent="-608197" lvl="2">
              <a:lnSpc>
                <a:spcPts val="5493"/>
              </a:lnSpc>
              <a:buFont typeface="Arial"/>
              <a:buChar char="⚬"/>
            </a:pPr>
            <a:r>
              <a:rPr lang="en-US" b="true" sz="4225" spc="-12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Prototype for future AR/VR and smart TV control</a:t>
            </a:r>
          </a:p>
          <a:p>
            <a:pPr algn="l" marL="912295" indent="-456148" lvl="1">
              <a:lnSpc>
                <a:spcPts val="5493"/>
              </a:lnSpc>
              <a:buAutoNum type="arabicPeriod" startAt="1"/>
            </a:pPr>
            <a:r>
              <a:rPr lang="en-US" b="true" sz="4225" spc="-12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Rehabilitation &amp; Therapy</a:t>
            </a:r>
          </a:p>
          <a:p>
            <a:pPr algn="l" marL="1824590" indent="-608197" lvl="2">
              <a:lnSpc>
                <a:spcPts val="5493"/>
              </a:lnSpc>
              <a:buFont typeface="Arial"/>
              <a:buChar char="⚬"/>
            </a:pPr>
            <a:r>
              <a:rPr lang="en-US" b="true" sz="4225" spc="-12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Could be adapted for motor skill training</a:t>
            </a:r>
          </a:p>
          <a:p>
            <a:pPr algn="l">
              <a:lnSpc>
                <a:spcPts val="5493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5040525" y="981464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12830" y="904875"/>
            <a:ext cx="17566011" cy="167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5"/>
              </a:lnSpc>
            </a:pPr>
            <a:r>
              <a:rPr lang="en-US" sz="10178" spc="-498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CHALLENGES &amp; FUTURE SCOPE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5823" y="3158896"/>
            <a:ext cx="21340025" cy="628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3"/>
              </a:lnSpc>
            </a:pPr>
            <a:r>
              <a:rPr lang="en-US" sz="4225" spc="-12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Challenges Faced:</a:t>
            </a:r>
          </a:p>
          <a:p>
            <a:pPr algn="l" marL="912295" indent="-456148" lvl="1">
              <a:lnSpc>
                <a:spcPts val="5493"/>
              </a:lnSpc>
              <a:buAutoNum type="arabicPeriod" startAt="1"/>
            </a:pPr>
            <a:r>
              <a:rPr lang="en-US" sz="4225" spc="-1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HSV tuning sensitivity to lighting</a:t>
            </a:r>
          </a:p>
          <a:p>
            <a:pPr algn="l" marL="912295" indent="-456148" lvl="1">
              <a:lnSpc>
                <a:spcPts val="5493"/>
              </a:lnSpc>
              <a:buAutoNum type="arabicPeriod" startAt="1"/>
            </a:pPr>
            <a:r>
              <a:rPr lang="en-US" sz="4225" spc="-1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False detection of face/hair if background was similar in color</a:t>
            </a:r>
          </a:p>
          <a:p>
            <a:pPr algn="l" marL="912295" indent="-456148" lvl="1">
              <a:lnSpc>
                <a:spcPts val="5493"/>
              </a:lnSpc>
              <a:buAutoNum type="arabicPeriod" startAt="1"/>
            </a:pPr>
            <a:r>
              <a:rPr lang="en-US" sz="4225" spc="-1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Webcam latency and flickering</a:t>
            </a:r>
          </a:p>
          <a:p>
            <a:pPr algn="l">
              <a:lnSpc>
                <a:spcPts val="5493"/>
              </a:lnSpc>
            </a:pPr>
            <a:r>
              <a:rPr lang="en-US" sz="4225" spc="-12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Future Improvements:</a:t>
            </a:r>
          </a:p>
          <a:p>
            <a:pPr algn="l" marL="912295" indent="-456148" lvl="1">
              <a:lnSpc>
                <a:spcPts val="5493"/>
              </a:lnSpc>
              <a:buAutoNum type="arabicPeriod" startAt="1"/>
            </a:pPr>
            <a:r>
              <a:rPr lang="en-US" sz="4225" spc="-1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Add fingertip detection using MediaPipe</a:t>
            </a:r>
          </a:p>
          <a:p>
            <a:pPr algn="l" marL="912295" indent="-456148" lvl="1">
              <a:lnSpc>
                <a:spcPts val="5493"/>
              </a:lnSpc>
              <a:buAutoNum type="arabicPeriod" startAt="1"/>
            </a:pPr>
            <a:r>
              <a:rPr lang="en-US" sz="4225" spc="-1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Export drawings as images</a:t>
            </a:r>
          </a:p>
          <a:p>
            <a:pPr algn="l" marL="912295" indent="-456148" lvl="1">
              <a:lnSpc>
                <a:spcPts val="5493"/>
              </a:lnSpc>
              <a:buAutoNum type="arabicPeriod" startAt="1"/>
            </a:pPr>
            <a:r>
              <a:rPr lang="en-US" sz="4225" spc="-1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Add gesture-based commands (e.g., wave = undo)</a:t>
            </a:r>
          </a:p>
          <a:p>
            <a:pPr algn="l" marL="912295" indent="-456148" lvl="1">
              <a:lnSpc>
                <a:spcPts val="5493"/>
              </a:lnSpc>
              <a:buAutoNum type="arabicPeriod" startAt="1"/>
            </a:pPr>
            <a:r>
              <a:rPr lang="en-US" sz="4225" spc="-1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Integrate voice commands for interaction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358858" y="490732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0"/>
                </a:moveTo>
                <a:lnTo>
                  <a:pt x="3247476" y="0"/>
                </a:lnTo>
                <a:lnTo>
                  <a:pt x="3247476" y="472360"/>
                </a:lnTo>
                <a:lnTo>
                  <a:pt x="0" y="472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5400000">
            <a:off x="15399382" y="490732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6" y="472360"/>
                </a:lnTo>
                <a:lnTo>
                  <a:pt x="3247476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5921917" y="8100856"/>
            <a:ext cx="1337383" cy="1157444"/>
          </a:xfrm>
          <a:custGeom>
            <a:avLst/>
            <a:gdLst/>
            <a:ahLst/>
            <a:cxnLst/>
            <a:rect r="r" b="b" t="t" l="l"/>
            <a:pathLst>
              <a:path h="1157444" w="1337383">
                <a:moveTo>
                  <a:pt x="0" y="0"/>
                </a:moveTo>
                <a:lnTo>
                  <a:pt x="1337383" y="0"/>
                </a:lnTo>
                <a:lnTo>
                  <a:pt x="1337383" y="1157444"/>
                </a:lnTo>
                <a:lnTo>
                  <a:pt x="0" y="11574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0800000">
            <a:off x="1028700" y="8081538"/>
            <a:ext cx="1337383" cy="1157444"/>
          </a:xfrm>
          <a:custGeom>
            <a:avLst/>
            <a:gdLst/>
            <a:ahLst/>
            <a:cxnLst/>
            <a:rect r="r" b="b" t="t" l="l"/>
            <a:pathLst>
              <a:path h="1157444" w="1337383">
                <a:moveTo>
                  <a:pt x="1337383" y="0"/>
                </a:moveTo>
                <a:lnTo>
                  <a:pt x="0" y="0"/>
                </a:lnTo>
                <a:lnTo>
                  <a:pt x="0" y="1157444"/>
                </a:lnTo>
                <a:lnTo>
                  <a:pt x="1337383" y="1157444"/>
                </a:lnTo>
                <a:lnTo>
                  <a:pt x="133738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6996033" y="1028700"/>
            <a:ext cx="263267" cy="204391"/>
          </a:xfrm>
          <a:custGeom>
            <a:avLst/>
            <a:gdLst/>
            <a:ahLst/>
            <a:cxnLst/>
            <a:rect r="r" b="b" t="t" l="l"/>
            <a:pathLst>
              <a:path h="204391" w="263267">
                <a:moveTo>
                  <a:pt x="0" y="0"/>
                </a:moveTo>
                <a:lnTo>
                  <a:pt x="263267" y="0"/>
                </a:lnTo>
                <a:lnTo>
                  <a:pt x="263267" y="204391"/>
                </a:lnTo>
                <a:lnTo>
                  <a:pt x="0" y="2043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800000">
            <a:off x="1028700" y="1028700"/>
            <a:ext cx="263267" cy="204391"/>
          </a:xfrm>
          <a:custGeom>
            <a:avLst/>
            <a:gdLst/>
            <a:ahLst/>
            <a:cxnLst/>
            <a:rect r="r" b="b" t="t" l="l"/>
            <a:pathLst>
              <a:path h="204391" w="263267">
                <a:moveTo>
                  <a:pt x="263267" y="0"/>
                </a:moveTo>
                <a:lnTo>
                  <a:pt x="0" y="0"/>
                </a:lnTo>
                <a:lnTo>
                  <a:pt x="0" y="204391"/>
                </a:lnTo>
                <a:lnTo>
                  <a:pt x="263267" y="204391"/>
                </a:lnTo>
                <a:lnTo>
                  <a:pt x="26326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835963" y="3447612"/>
            <a:ext cx="12616074" cy="3163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90"/>
              </a:lnSpc>
            </a:pPr>
            <a:r>
              <a:rPr lang="en-US" sz="19386" spc="-949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THANK YOU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35963" y="7648564"/>
            <a:ext cx="11086338" cy="1985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4009" spc="-196">
                <a:solidFill>
                  <a:srgbClr val="FFDE59"/>
                </a:solidFill>
                <a:latin typeface="Norwester"/>
                <a:ea typeface="Norwester"/>
                <a:cs typeface="Norwester"/>
                <a:sym typeface="Norwester"/>
              </a:rPr>
              <a:t>📩 Anushka Gupta</a:t>
            </a:r>
          </a:p>
          <a:p>
            <a:pPr algn="l">
              <a:lnSpc>
                <a:spcPts val="5292"/>
              </a:lnSpc>
            </a:pPr>
            <a:r>
              <a:rPr lang="en-US" sz="4009" spc="-196">
                <a:solidFill>
                  <a:srgbClr val="FFDE59"/>
                </a:solidFill>
                <a:latin typeface="Norwester"/>
                <a:ea typeface="Norwester"/>
                <a:cs typeface="Norwester"/>
                <a:sym typeface="Norwester"/>
              </a:rPr>
              <a:t> 🧾 102303358</a:t>
            </a:r>
          </a:p>
          <a:p>
            <a:pPr algn="l">
              <a:lnSpc>
                <a:spcPts val="5292"/>
              </a:lnSpc>
            </a:pPr>
            <a:r>
              <a:rPr lang="en-US" sz="4009" spc="-196">
                <a:solidFill>
                  <a:srgbClr val="FFDE59"/>
                </a:solidFill>
                <a:latin typeface="Norwester"/>
                <a:ea typeface="Norwester"/>
                <a:cs typeface="Norwester"/>
                <a:sym typeface="Norwester"/>
              </a:rPr>
              <a:t> 🎓 Thapar Institute of Engineering &amp;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DAGqRJx3niE</dc:identifier>
  <dcterms:modified xsi:type="dcterms:W3CDTF">2011-08-01T06:04:30Z</dcterms:modified>
  <cp:revision>1</cp:revision>
  <dc:title>Air Canvas: Real-Time Virtual Drawing Using Hand Motion</dc:title>
</cp:coreProperties>
</file>